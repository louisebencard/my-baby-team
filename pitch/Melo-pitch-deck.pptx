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642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241280" y="914400"/>
            <a:ext cx="109728" cy="109728"/>
          </a:xfrm>
          <a:prstGeom prst="ellipse">
            <a:avLst/>
          </a:prstGeom>
          <a:solidFill>
            <a:srgbClr val="C57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789920" y="1280160"/>
            <a:ext cx="109728" cy="109728"/>
          </a:xfrm>
          <a:prstGeom prst="ellipse">
            <a:avLst/>
          </a:prstGeom>
          <a:solidFill>
            <a:srgbClr val="C57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1338560" y="1005840"/>
            <a:ext cx="109728" cy="109728"/>
          </a:xfrm>
          <a:prstGeom prst="ellipse">
            <a:avLst/>
          </a:prstGeom>
          <a:solidFill>
            <a:srgbClr val="C57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548640" y="5852160"/>
            <a:ext cx="109728" cy="109728"/>
          </a:xfrm>
          <a:prstGeom prst="ellipse">
            <a:avLst/>
          </a:prstGeom>
          <a:solidFill>
            <a:srgbClr val="C57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097280" y="6126480"/>
            <a:ext cx="109728" cy="109728"/>
          </a:xfrm>
          <a:prstGeom prst="ellipse">
            <a:avLst/>
          </a:prstGeom>
          <a:solidFill>
            <a:srgbClr val="C57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melo-logo-her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95360" y="594360"/>
            <a:ext cx="2194560" cy="219456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31520" y="640080"/>
            <a:ext cx="27432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600" b="1" i="0">
                <a:solidFill>
                  <a:srgbClr val="E6DCC5"/>
                </a:solidFill>
                <a:latin typeface="Georgia"/>
              </a:rPr>
              <a:t>Melo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1143000"/>
            <a:ext cx="3657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E6DCC5"/>
                </a:solidFill>
                <a:latin typeface="Calibri"/>
              </a:rPr>
              <a:t>FOR NEW PARENTS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2743200"/>
            <a:ext cx="10058400" cy="2377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6000" b="0" i="0">
                <a:solidFill>
                  <a:srgbClr val="E6DCC5"/>
                </a:solidFill>
                <a:latin typeface="Georgia"/>
              </a:rPr>
              <a:t>Pregnancy. Parenthood.
For two parents.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5120640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E6DCC5"/>
                </a:solidFill>
                <a:latin typeface="Calibri"/>
              </a:rPr>
              <a:t>Investor pitch — Marbella 2026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5486400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1">
                <a:solidFill>
                  <a:srgbClr val="E6DCC5"/>
                </a:solidFill>
                <a:latin typeface="Calibri"/>
              </a:rPr>
              <a:t>Louise Bencard, Founder · Melo Parents ApS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5852160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E6DCC5"/>
                </a:solidFill>
                <a:latin typeface="Calibri"/>
              </a:rPr>
              <a:t>meloparents.com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1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melo-logo-bad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74320"/>
            <a:ext cx="502920" cy="5029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143000" y="292608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 i="0">
                <a:solidFill>
                  <a:srgbClr val="264236"/>
                </a:solidFill>
                <a:latin typeface="Georgia"/>
              </a:rPr>
              <a:t>Melo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" y="594360"/>
            <a:ext cx="2743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 i="0">
                <a:solidFill>
                  <a:srgbClr val="264236"/>
                </a:solidFill>
                <a:latin typeface="Calibri"/>
              </a:rPr>
              <a:t>FOR NEW PARENTS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828800"/>
            <a:ext cx="6400800" cy="2286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8000" b="1" i="0">
                <a:solidFill>
                  <a:srgbClr val="264236"/>
                </a:solidFill>
                <a:latin typeface="Georgia"/>
              </a:rPr>
              <a:t>67%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4206240"/>
            <a:ext cx="10515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0" i="0">
                <a:solidFill>
                  <a:srgbClr val="4E3C2C"/>
                </a:solidFill>
                <a:latin typeface="Georgia"/>
              </a:rPr>
              <a:t>of couples experience a significant decline 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4572000"/>
            <a:ext cx="10515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0" i="0">
                <a:solidFill>
                  <a:srgbClr val="4E3C2C"/>
                </a:solidFill>
                <a:latin typeface="Georgia"/>
              </a:rPr>
              <a:t>relationship satisfaction in the first year of parenthood.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548640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1">
                <a:solidFill>
                  <a:srgbClr val="C57B57"/>
                </a:solidFill>
                <a:latin typeface="Calibri"/>
              </a:rPr>
              <a:t>Equitable task-sharing is the strongest predictor of recovery.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5852160"/>
            <a:ext cx="10515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1">
                <a:solidFill>
                  <a:srgbClr val="9A958B"/>
                </a:solidFill>
                <a:latin typeface="Calibri"/>
              </a:rPr>
              <a:t>Source: Gottman Institute, longitudinal couples research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521440" y="6537960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9A958B"/>
                </a:solidFill>
                <a:latin typeface="Calibri"/>
              </a:rPr>
              <a:t>2 / 14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1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melo-logo-bad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74320"/>
            <a:ext cx="502920" cy="5029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143000" y="292608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 i="0">
                <a:solidFill>
                  <a:srgbClr val="264236"/>
                </a:solidFill>
                <a:latin typeface="Georgia"/>
              </a:rPr>
              <a:t>Melo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" y="594360"/>
            <a:ext cx="2743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 i="0">
                <a:solidFill>
                  <a:srgbClr val="264236"/>
                </a:solidFill>
                <a:latin typeface="Calibri"/>
              </a:rPr>
              <a:t>FOR NEW PARENTS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005840"/>
            <a:ext cx="73152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000" b="1" i="0">
                <a:solidFill>
                  <a:srgbClr val="264236"/>
                </a:solidFill>
                <a:latin typeface="Georgia"/>
              </a:rPr>
              <a:t>The problem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691640"/>
            <a:ext cx="9144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1">
                <a:solidFill>
                  <a:srgbClr val="9A958B"/>
                </a:solidFill>
                <a:latin typeface="Calibri"/>
              </a:rPr>
              <a:t>Three gaps in how new families are served today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377440"/>
            <a:ext cx="10698480" cy="1143000"/>
          </a:xfrm>
          <a:prstGeom prst="roundRect">
            <a:avLst>
              <a:gd name="adj" fmla="val 8000"/>
            </a:avLst>
          </a:prstGeom>
          <a:solidFill>
            <a:srgbClr val="FBF8F2"/>
          </a:solidFill>
          <a:ln w="9525">
            <a:solidFill>
              <a:srgbClr val="E4EB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542032"/>
            <a:ext cx="8229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 i="0">
                <a:solidFill>
                  <a:srgbClr val="C57B57"/>
                </a:solidFill>
                <a:latin typeface="Georgia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737360" y="2560320"/>
            <a:ext cx="3657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 i="0">
                <a:solidFill>
                  <a:srgbClr val="264236"/>
                </a:solidFill>
                <a:latin typeface="Georgia"/>
              </a:rPr>
              <a:t>The father gap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37360" y="2971800"/>
            <a:ext cx="950976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0" i="0">
                <a:solidFill>
                  <a:srgbClr val="4E3C2C"/>
                </a:solidFill>
                <a:latin typeface="Calibri"/>
              </a:rPr>
              <a:t>Pregnancy and parenting content is written for mothers. Fathers install the app, find nothing for them, and stop opening it within four weeks.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3703320"/>
            <a:ext cx="10698480" cy="1143000"/>
          </a:xfrm>
          <a:prstGeom prst="roundRect">
            <a:avLst>
              <a:gd name="adj" fmla="val 8000"/>
            </a:avLst>
          </a:prstGeom>
          <a:solidFill>
            <a:srgbClr val="FBF8F2"/>
          </a:solidFill>
          <a:ln w="9525">
            <a:solidFill>
              <a:srgbClr val="E4EB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3867912"/>
            <a:ext cx="8229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 i="0">
                <a:solidFill>
                  <a:srgbClr val="C57B57"/>
                </a:solidFill>
                <a:latin typeface="Georgia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737360" y="3886200"/>
            <a:ext cx="3657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 i="0">
                <a:solidFill>
                  <a:srgbClr val="264236"/>
                </a:solidFill>
                <a:latin typeface="Georgia"/>
              </a:rPr>
              <a:t>The mental load gap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737360" y="4297680"/>
            <a:ext cx="950976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0" i="0">
                <a:solidFill>
                  <a:srgbClr val="4E3C2C"/>
                </a:solidFill>
                <a:latin typeface="Calibri"/>
              </a:rPr>
              <a:t>Even when fathers are engaged, the invisible work of running a household falls on the mother. A leading driver of postpartum depression and relationship breakdown.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5029200"/>
            <a:ext cx="10698480" cy="1143000"/>
          </a:xfrm>
          <a:prstGeom prst="roundRect">
            <a:avLst>
              <a:gd name="adj" fmla="val 8000"/>
            </a:avLst>
          </a:prstGeom>
          <a:solidFill>
            <a:srgbClr val="FBF8F2"/>
          </a:solidFill>
          <a:ln w="9525">
            <a:solidFill>
              <a:srgbClr val="E4EB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5193792"/>
            <a:ext cx="8229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 i="0">
                <a:solidFill>
                  <a:srgbClr val="C57B57"/>
                </a:solidFill>
                <a:latin typeface="Georgia"/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737360" y="5212080"/>
            <a:ext cx="3657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 i="0">
                <a:solidFill>
                  <a:srgbClr val="264236"/>
                </a:solidFill>
                <a:latin typeface="Georgia"/>
              </a:rPr>
              <a:t>The trust gap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737360" y="5623560"/>
            <a:ext cx="950976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0" i="0">
                <a:solidFill>
                  <a:srgbClr val="4E3C2C"/>
                </a:solidFill>
                <a:latin typeface="Calibri"/>
              </a:rPr>
              <a:t>The market is dominated by ad-supported and data-monetized models. Vulnerable, sleep-deprived parents are sold supplements and lifestyle products at scale.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521440" y="6537960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9A958B"/>
                </a:solidFill>
                <a:latin typeface="Calibri"/>
              </a:rPr>
              <a:t>3 / 14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1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melo-logo-bad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74320"/>
            <a:ext cx="502920" cy="5029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143000" y="292608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 i="0">
                <a:solidFill>
                  <a:srgbClr val="264236"/>
                </a:solidFill>
                <a:latin typeface="Georgia"/>
              </a:rPr>
              <a:t>Melo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" y="594360"/>
            <a:ext cx="2743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 i="0">
                <a:solidFill>
                  <a:srgbClr val="264236"/>
                </a:solidFill>
                <a:latin typeface="Calibri"/>
              </a:rPr>
              <a:t>FOR NEW PARENTS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005840"/>
            <a:ext cx="73152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000" b="1" i="0">
                <a:solidFill>
                  <a:srgbClr val="264236"/>
                </a:solidFill>
                <a:latin typeface="Georgia"/>
              </a:rPr>
              <a:t>The solution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69164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1">
                <a:solidFill>
                  <a:srgbClr val="9A958B"/>
                </a:solidFill>
                <a:latin typeface="Calibri"/>
              </a:rPr>
              <a:t>One app, two parents, role-aware throughout.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377440"/>
            <a:ext cx="4937760" cy="3840480"/>
          </a:xfrm>
          <a:prstGeom prst="roundRect">
            <a:avLst>
              <a:gd name="adj" fmla="val 8000"/>
            </a:avLst>
          </a:prstGeom>
          <a:solidFill>
            <a:srgbClr val="F1E0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651760"/>
            <a:ext cx="4572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 i="0">
                <a:solidFill>
                  <a:srgbClr val="4E3C2C"/>
                </a:solidFill>
                <a:latin typeface="Georgia"/>
              </a:rPr>
              <a:t>For the mother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246120"/>
            <a:ext cx="4572000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200">
                <a:solidFill>
                  <a:srgbClr val="4E3C2C"/>
                </a:solidFill>
                <a:latin typeface="Calibri"/>
              </a:rPr>
              <a:t>Week-by-week pregnancy verified against Danish health authority</a:t>
            </a:r>
          </a:p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200">
                <a:solidFill>
                  <a:srgbClr val="4E3C2C"/>
                </a:solidFill>
                <a:latin typeface="Calibri"/>
              </a:rPr>
              <a:t>Postpartum recovery support</a:t>
            </a:r>
          </a:p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200">
                <a:solidFill>
                  <a:srgbClr val="4E3C2C"/>
                </a:solidFill>
                <a:latin typeface="Calibri"/>
              </a:rPr>
              <a:t>Sleep, diary, and milestone tracking</a:t>
            </a:r>
          </a:p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200">
                <a:solidFill>
                  <a:srgbClr val="4E3C2C"/>
                </a:solidFill>
                <a:latin typeface="Calibri"/>
              </a:rPr>
              <a:t>Personalized nutrition and supplement guidance</a:t>
            </a:r>
          </a:p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200">
                <a:solidFill>
                  <a:srgbClr val="4E3C2C"/>
                </a:solidFill>
                <a:latin typeface="Calibri"/>
              </a:rPr>
              <a:t>Reminders that she also needs care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92240" y="2377440"/>
            <a:ext cx="4937760" cy="3840480"/>
          </a:xfrm>
          <a:prstGeom prst="roundRect">
            <a:avLst>
              <a:gd name="adj" fmla="val 8000"/>
            </a:avLst>
          </a:prstGeom>
          <a:solidFill>
            <a:srgbClr val="E4EB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675120" y="2651760"/>
            <a:ext cx="4572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 i="0">
                <a:solidFill>
                  <a:srgbClr val="264236"/>
                </a:solidFill>
                <a:latin typeface="Georgia"/>
              </a:rPr>
              <a:t>For the father / co-parent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75120" y="3246120"/>
            <a:ext cx="4572000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200">
                <a:solidFill>
                  <a:srgbClr val="4E3C2C"/>
                </a:solidFill>
                <a:latin typeface="Calibri"/>
              </a:rPr>
              <a:t>Daily missions and content in a language that fits him</a:t>
            </a:r>
          </a:p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200">
                <a:solidFill>
                  <a:srgbClr val="4E3C2C"/>
                </a:solidFill>
                <a:latin typeface="Calibri"/>
              </a:rPr>
              <a:t>Concrete ways to support mom, adapted to feeding method</a:t>
            </a:r>
          </a:p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200">
                <a:solidFill>
                  <a:srgbClr val="4E3C2C"/>
                </a:solidFill>
                <a:latin typeface="Calibri"/>
              </a:rPr>
              <a:t>Age-aware play ideas (yes, play = workout)</a:t>
            </a:r>
          </a:p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200">
                <a:solidFill>
                  <a:srgbClr val="4E3C2C"/>
                </a:solidFill>
                <a:latin typeface="Calibri"/>
              </a:rPr>
              <a:t>Kettlebell-weight comparisons, achievement framing</a:t>
            </a:r>
          </a:p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200">
                <a:solidFill>
                  <a:srgbClr val="4E3C2C"/>
                </a:solidFill>
                <a:latin typeface="Calibri"/>
              </a:rPr>
              <a:t>Built-in reminders to verbalize appreciation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644652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1">
                <a:solidFill>
                  <a:srgbClr val="9A958B"/>
                </a:solidFill>
                <a:latin typeface="Calibri"/>
              </a:rPr>
              <a:t>Connected by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6675120"/>
            <a:ext cx="10515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264236"/>
                </a:solidFill>
                <a:latin typeface="Calibri"/>
              </a:rPr>
              <a:t>Take-a-task   ·   Send appreciation   ·   Shared needs   ·   Date-night dreams   ·   MELO AI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521440" y="6537960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9A958B"/>
                </a:solidFill>
                <a:latin typeface="Calibri"/>
              </a:rPr>
              <a:t>4 / 14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1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melo-logo-bad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74320"/>
            <a:ext cx="502920" cy="5029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143000" y="292608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 i="0">
                <a:solidFill>
                  <a:srgbClr val="264236"/>
                </a:solidFill>
                <a:latin typeface="Georgia"/>
              </a:rPr>
              <a:t>Melo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" y="594360"/>
            <a:ext cx="2743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 i="0">
                <a:solidFill>
                  <a:srgbClr val="264236"/>
                </a:solidFill>
                <a:latin typeface="Calibri"/>
              </a:rPr>
              <a:t>FOR NEW PARENTS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005840"/>
            <a:ext cx="73152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000" b="1" i="0">
                <a:solidFill>
                  <a:srgbClr val="264236"/>
                </a:solidFill>
                <a:latin typeface="Georgia"/>
              </a:rPr>
              <a:t>Product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69164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1">
                <a:solidFill>
                  <a:srgbClr val="9A958B"/>
                </a:solidFill>
                <a:latin typeface="Calibri"/>
              </a:rPr>
              <a:t>Built and ready. Six features that define the experience.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377440"/>
            <a:ext cx="3520440" cy="1874519"/>
          </a:xfrm>
          <a:prstGeom prst="roundRect">
            <a:avLst>
              <a:gd name="adj" fmla="val 8000"/>
            </a:avLst>
          </a:prstGeom>
          <a:solidFill>
            <a:srgbClr val="FBF8F2"/>
          </a:solidFill>
          <a:ln w="9525">
            <a:solidFill>
              <a:srgbClr val="E4EB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2560320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0" i="0">
                <a:solidFill>
                  <a:srgbClr val="4E3C2C"/>
                </a:solidFill>
                <a:latin typeface="Calibri"/>
              </a:rPr>
              <a:t>📅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63040" y="2578608"/>
            <a:ext cx="26060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 i="0">
                <a:solidFill>
                  <a:srgbClr val="264236"/>
                </a:solidFill>
                <a:latin typeface="Georgia"/>
              </a:rPr>
              <a:t>Week-by-week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3154680"/>
            <a:ext cx="3063240" cy="9601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4E3C2C"/>
                </a:solidFill>
                <a:latin typeface="Calibri"/>
              </a:rPr>
              <a:t>From the first heartbeat to term. Verified content, no surprises.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43400" y="2377440"/>
            <a:ext cx="3520440" cy="1874519"/>
          </a:xfrm>
          <a:prstGeom prst="roundRect">
            <a:avLst>
              <a:gd name="adj" fmla="val 8000"/>
            </a:avLst>
          </a:prstGeom>
          <a:solidFill>
            <a:srgbClr val="FBF8F2"/>
          </a:solidFill>
          <a:ln w="9525">
            <a:solidFill>
              <a:srgbClr val="E4EB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0" y="2560320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0" i="0">
                <a:solidFill>
                  <a:srgbClr val="4E3C2C"/>
                </a:solidFill>
                <a:latin typeface="Calibri"/>
              </a:rPr>
              <a:t>😴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74920" y="2578608"/>
            <a:ext cx="26060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 i="0">
                <a:solidFill>
                  <a:srgbClr val="264236"/>
                </a:solidFill>
                <a:latin typeface="Georgia"/>
              </a:rPr>
              <a:t>Sleep tracker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3154680"/>
            <a:ext cx="3063240" cy="9601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4E3C2C"/>
                </a:solidFill>
                <a:latin typeface="Calibri"/>
              </a:rPr>
              <a:t>One-tap stopwatch. See rhythms over weeks. Find calm on hard nights.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955280" y="2377440"/>
            <a:ext cx="3520440" cy="1874519"/>
          </a:xfrm>
          <a:prstGeom prst="roundRect">
            <a:avLst>
              <a:gd name="adj" fmla="val 8000"/>
            </a:avLst>
          </a:prstGeom>
          <a:solidFill>
            <a:srgbClr val="FBF8F2"/>
          </a:solidFill>
          <a:ln w="9525">
            <a:solidFill>
              <a:srgbClr val="E4EB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183880" y="2560320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0" i="0">
                <a:solidFill>
                  <a:srgbClr val="4E3C2C"/>
                </a:solidFill>
                <a:latin typeface="Calibri"/>
              </a:rPr>
              <a:t>📔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86800" y="2578608"/>
            <a:ext cx="26060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 i="0">
                <a:solidFill>
                  <a:srgbClr val="264236"/>
                </a:solidFill>
                <a:latin typeface="Georgia"/>
              </a:rPr>
              <a:t>Shared diary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183880" y="3154680"/>
            <a:ext cx="3063240" cy="9601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4E3C2C"/>
                </a:solidFill>
                <a:latin typeface="Calibri"/>
              </a:rPr>
              <a:t>Feeds, diapers, sleep, milestones — both parents log and sync.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31520" y="4343399"/>
            <a:ext cx="3520440" cy="1874519"/>
          </a:xfrm>
          <a:prstGeom prst="roundRect">
            <a:avLst>
              <a:gd name="adj" fmla="val 8000"/>
            </a:avLst>
          </a:prstGeom>
          <a:solidFill>
            <a:srgbClr val="FBF8F2"/>
          </a:solidFill>
          <a:ln w="9525">
            <a:solidFill>
              <a:srgbClr val="E4EB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60120" y="4526279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0" i="0">
                <a:solidFill>
                  <a:srgbClr val="4E3C2C"/>
                </a:solidFill>
                <a:latin typeface="Calibri"/>
              </a:rPr>
              <a:t>🤝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63040" y="4544567"/>
            <a:ext cx="26060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 i="0">
                <a:solidFill>
                  <a:srgbClr val="264236"/>
                </a:solidFill>
                <a:latin typeface="Georgia"/>
              </a:rPr>
              <a:t>Take-and-thank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60120" y="5120639"/>
            <a:ext cx="3063240" cy="9601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4E3C2C"/>
                </a:solidFill>
                <a:latin typeface="Calibri"/>
              </a:rPr>
              <a:t>Take a task off your partner. Send a one-tap appreciation back.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343400" y="4343399"/>
            <a:ext cx="3520440" cy="1874519"/>
          </a:xfrm>
          <a:prstGeom prst="roundRect">
            <a:avLst>
              <a:gd name="adj" fmla="val 8000"/>
            </a:avLst>
          </a:prstGeom>
          <a:solidFill>
            <a:srgbClr val="FBF8F2"/>
          </a:solidFill>
          <a:ln w="9525">
            <a:solidFill>
              <a:srgbClr val="E4EB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572000" y="4526279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0" i="0">
                <a:solidFill>
                  <a:srgbClr val="4E3C2C"/>
                </a:solidFill>
                <a:latin typeface="Calibri"/>
              </a:rPr>
              <a:t>💬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74920" y="4544567"/>
            <a:ext cx="26060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 i="0">
                <a:solidFill>
                  <a:srgbClr val="264236"/>
                </a:solidFill>
                <a:latin typeface="Georgia"/>
              </a:rPr>
              <a:t>MELO AI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0" y="5120639"/>
            <a:ext cx="3063240" cy="9601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4E3C2C"/>
                </a:solidFill>
                <a:latin typeface="Calibri"/>
              </a:rPr>
              <a:t>Ask anything. Grounded in Danish professional guidance. Refers when needed.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955280" y="4343399"/>
            <a:ext cx="3520440" cy="1874519"/>
          </a:xfrm>
          <a:prstGeom prst="roundRect">
            <a:avLst>
              <a:gd name="adj" fmla="val 8000"/>
            </a:avLst>
          </a:prstGeom>
          <a:solidFill>
            <a:srgbClr val="FBF8F2"/>
          </a:solidFill>
          <a:ln w="9525">
            <a:solidFill>
              <a:srgbClr val="E4EB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183880" y="4526279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0" i="0">
                <a:solidFill>
                  <a:srgbClr val="4E3C2C"/>
                </a:solidFill>
                <a:latin typeface="Calibri"/>
              </a:rPr>
              <a:t>💪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686800" y="4544567"/>
            <a:ext cx="26060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 i="0">
                <a:solidFill>
                  <a:srgbClr val="264236"/>
                </a:solidFill>
                <a:latin typeface="Georgia"/>
              </a:rPr>
              <a:t>Father-aware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183880" y="5120639"/>
            <a:ext cx="3063240" cy="9601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4E3C2C"/>
                </a:solidFill>
                <a:latin typeface="Calibri"/>
              </a:rPr>
              <a:t>Dedicated dashboard, age-aware content, support-mom missions.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521440" y="6537960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9A958B"/>
                </a:solidFill>
                <a:latin typeface="Calibri"/>
              </a:rPr>
              <a:t>5 / 14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1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melo-logo-bad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74320"/>
            <a:ext cx="502920" cy="5029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143000" y="292608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 i="0">
                <a:solidFill>
                  <a:srgbClr val="264236"/>
                </a:solidFill>
                <a:latin typeface="Georgia"/>
              </a:rPr>
              <a:t>Melo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" y="594360"/>
            <a:ext cx="2743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 i="0">
                <a:solidFill>
                  <a:srgbClr val="264236"/>
                </a:solidFill>
                <a:latin typeface="Calibri"/>
              </a:rPr>
              <a:t>FOR NEW PARENTS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005840"/>
            <a:ext cx="73152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000" b="1" i="0">
                <a:solidFill>
                  <a:srgbClr val="264236"/>
                </a:solidFill>
                <a:latin typeface="Georgia"/>
              </a:rPr>
              <a:t>Why now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69164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1">
                <a:solidFill>
                  <a:srgbClr val="9A958B"/>
                </a:solidFill>
                <a:latin typeface="Calibri"/>
              </a:rPr>
              <a:t>Three forces have converged in the last 36 months.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468880"/>
            <a:ext cx="2377440" cy="1097280"/>
          </a:xfrm>
          <a:prstGeom prst="roundRect">
            <a:avLst>
              <a:gd name="adj" fmla="val 8000"/>
            </a:avLst>
          </a:prstGeom>
          <a:solidFill>
            <a:srgbClr val="2642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2468880"/>
            <a:ext cx="2377440" cy="10972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200" b="1" i="0">
                <a:solidFill>
                  <a:srgbClr val="E6DCC5"/>
                </a:solidFill>
                <a:latin typeface="Georgia"/>
              </a:rPr>
              <a:t>Policy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291840" y="2468880"/>
            <a:ext cx="8138160" cy="1097280"/>
          </a:xfrm>
          <a:prstGeom prst="roundRect">
            <a:avLst>
              <a:gd name="adj" fmla="val 8000"/>
            </a:avLst>
          </a:prstGeom>
          <a:solidFill>
            <a:srgbClr val="FBF8F2"/>
          </a:solidFill>
          <a:ln w="9525">
            <a:solidFill>
              <a:srgbClr val="E4EB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520440" y="2633472"/>
            <a:ext cx="7680960" cy="868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250" b="0" i="0">
                <a:solidFill>
                  <a:srgbClr val="4E3C2C"/>
                </a:solidFill>
                <a:latin typeface="Calibri"/>
              </a:rPr>
              <a:t>Denmark mandated 11 weeks earmarked paternity leave in 2022. Every Nordic country followed. Fathers are now structurally expected to be present.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3749039"/>
            <a:ext cx="2377440" cy="1097280"/>
          </a:xfrm>
          <a:prstGeom prst="roundRect">
            <a:avLst>
              <a:gd name="adj" fmla="val 8000"/>
            </a:avLst>
          </a:prstGeom>
          <a:solidFill>
            <a:srgbClr val="2642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3749039"/>
            <a:ext cx="2377440" cy="10972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200" b="1" i="0">
                <a:solidFill>
                  <a:srgbClr val="E6DCC5"/>
                </a:solidFill>
                <a:latin typeface="Georgia"/>
              </a:rPr>
              <a:t>Generation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291840" y="3749039"/>
            <a:ext cx="8138160" cy="1097280"/>
          </a:xfrm>
          <a:prstGeom prst="roundRect">
            <a:avLst>
              <a:gd name="adj" fmla="val 8000"/>
            </a:avLst>
          </a:prstGeom>
          <a:solidFill>
            <a:srgbClr val="FBF8F2"/>
          </a:solidFill>
          <a:ln w="9525">
            <a:solidFill>
              <a:srgbClr val="E4EB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520440" y="3913631"/>
            <a:ext cx="7680960" cy="868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250" b="0" i="0">
                <a:solidFill>
                  <a:srgbClr val="4E3C2C"/>
                </a:solidFill>
                <a:latin typeface="Calibri"/>
              </a:rPr>
              <a:t>Millennials and Gen Z are the first generation of parents where 70%+ of fathers install the same pregnancy app their partner uses. They stop opening it because it ignores them.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5029200"/>
            <a:ext cx="2377440" cy="1097280"/>
          </a:xfrm>
          <a:prstGeom prst="roundRect">
            <a:avLst>
              <a:gd name="adj" fmla="val 8000"/>
            </a:avLst>
          </a:prstGeom>
          <a:solidFill>
            <a:srgbClr val="2642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" y="5029200"/>
            <a:ext cx="2377440" cy="10972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200" b="1" i="0">
                <a:solidFill>
                  <a:srgbClr val="E6DCC5"/>
                </a:solidFill>
                <a:latin typeface="Georgia"/>
              </a:rPr>
              <a:t>Backlash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291840" y="5029200"/>
            <a:ext cx="8138160" cy="1097280"/>
          </a:xfrm>
          <a:prstGeom prst="roundRect">
            <a:avLst>
              <a:gd name="adj" fmla="val 8000"/>
            </a:avLst>
          </a:prstGeom>
          <a:solidFill>
            <a:srgbClr val="FBF8F2"/>
          </a:solidFill>
          <a:ln w="9525">
            <a:solidFill>
              <a:srgbClr val="E4EB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520440" y="5193792"/>
            <a:ext cx="7680960" cy="868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250" b="0" i="0">
                <a:solidFill>
                  <a:srgbClr val="4E3C2C"/>
                </a:solidFill>
                <a:latin typeface="Calibri"/>
              </a:rPr>
              <a:t>Vulnerable-audience advertising and dark patterns face regulatory pressure. The window for a privacy-first, ad-free alternative is open.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521440" y="6537960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9A958B"/>
                </a:solidFill>
                <a:latin typeface="Calibri"/>
              </a:rPr>
              <a:t>6 / 14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1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melo-logo-bad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74320"/>
            <a:ext cx="502920" cy="5029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143000" y="292608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 i="0">
                <a:solidFill>
                  <a:srgbClr val="264236"/>
                </a:solidFill>
                <a:latin typeface="Georgia"/>
              </a:rPr>
              <a:t>Melo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" y="594360"/>
            <a:ext cx="2743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 i="0">
                <a:solidFill>
                  <a:srgbClr val="264236"/>
                </a:solidFill>
                <a:latin typeface="Calibri"/>
              </a:rPr>
              <a:t>FOR NEW PARENTS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005840"/>
            <a:ext cx="100584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000" b="1" i="0">
                <a:solidFill>
                  <a:srgbClr val="264236"/>
                </a:solidFill>
                <a:latin typeface="Georgia"/>
              </a:rPr>
              <a:t>Market opportunity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69164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1">
                <a:solidFill>
                  <a:srgbClr val="9A958B"/>
                </a:solidFill>
                <a:latin typeface="Calibri"/>
              </a:rPr>
              <a:t>Starting in Denmark, expanding into a €240M European SAM.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468880"/>
            <a:ext cx="10698480" cy="1143000"/>
          </a:xfrm>
          <a:prstGeom prst="roundRect">
            <a:avLst>
              <a:gd name="adj" fmla="val 8000"/>
            </a:avLst>
          </a:prstGeom>
          <a:solidFill>
            <a:srgbClr val="FBF8F2"/>
          </a:solidFill>
          <a:ln w="9525">
            <a:solidFill>
              <a:srgbClr val="E4EB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31520" y="2468880"/>
            <a:ext cx="164592" cy="1143000"/>
          </a:xfrm>
          <a:prstGeom prst="rect">
            <a:avLst/>
          </a:prstGeom>
          <a:solidFill>
            <a:srgbClr val="2642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7280" y="2633472"/>
            <a:ext cx="29260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 i="0">
                <a:solidFill>
                  <a:srgbClr val="264236"/>
                </a:solidFill>
                <a:latin typeface="Georgia"/>
              </a:rPr>
              <a:t>Denmark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3063240"/>
            <a:ext cx="29260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1">
                <a:solidFill>
                  <a:srgbClr val="9A958B"/>
                </a:solidFill>
                <a:latin typeface="Calibri"/>
              </a:rPr>
              <a:t>Year 0–1: launch market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89120" y="2633472"/>
            <a:ext cx="34747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 i="0">
                <a:solidFill>
                  <a:srgbClr val="4E3C2C"/>
                </a:solidFill>
                <a:latin typeface="Georgia"/>
              </a:rPr>
              <a:t>60K births / year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89120" y="3108960"/>
            <a:ext cx="3474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9A958B"/>
                </a:solidFill>
                <a:latin typeface="Calibri"/>
              </a:rPr>
              <a:t>Births per year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0" y="2633472"/>
            <a:ext cx="34747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C57B57"/>
                </a:solidFill>
                <a:latin typeface="Georgia"/>
              </a:rPr>
              <a:t>~€2–3M annual SAM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0" y="3108960"/>
            <a:ext cx="3474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9A958B"/>
                </a:solidFill>
                <a:latin typeface="Calibri"/>
              </a:rPr>
              <a:t>Annual addressable revenue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3794760"/>
            <a:ext cx="10698480" cy="1143000"/>
          </a:xfrm>
          <a:prstGeom prst="roundRect">
            <a:avLst>
              <a:gd name="adj" fmla="val 8000"/>
            </a:avLst>
          </a:prstGeom>
          <a:solidFill>
            <a:srgbClr val="FBF8F2"/>
          </a:solidFill>
          <a:ln w="9525">
            <a:solidFill>
              <a:srgbClr val="E4EB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31520" y="3794760"/>
            <a:ext cx="164592" cy="1143000"/>
          </a:xfrm>
          <a:prstGeom prst="rect">
            <a:avLst/>
          </a:prstGeom>
          <a:solidFill>
            <a:srgbClr val="7A9C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97280" y="3959352"/>
            <a:ext cx="29260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 i="0">
                <a:solidFill>
                  <a:srgbClr val="264236"/>
                </a:solidFill>
                <a:latin typeface="Georgia"/>
              </a:rPr>
              <a:t>Nordic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7280" y="4389120"/>
            <a:ext cx="29260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1">
                <a:solidFill>
                  <a:srgbClr val="9A958B"/>
                </a:solidFill>
                <a:latin typeface="Calibri"/>
              </a:rPr>
              <a:t>Year 1–2: SE, NO, FI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389120" y="3959352"/>
            <a:ext cx="34747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 i="0">
                <a:solidFill>
                  <a:srgbClr val="4E3C2C"/>
                </a:solidFill>
                <a:latin typeface="Georgia"/>
              </a:rPr>
              <a:t>268K births / year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389120" y="4434840"/>
            <a:ext cx="3474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9A958B"/>
                </a:solidFill>
                <a:latin typeface="Calibri"/>
              </a:rPr>
              <a:t>Births per year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72400" y="3959352"/>
            <a:ext cx="34747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C57B57"/>
                </a:solidFill>
                <a:latin typeface="Georgia"/>
              </a:rPr>
              <a:t>~€10–20M annual SAM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72400" y="4434840"/>
            <a:ext cx="3474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9A958B"/>
                </a:solidFill>
                <a:latin typeface="Calibri"/>
              </a:rPr>
              <a:t>Annual addressable revenue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31520" y="5120640"/>
            <a:ext cx="10698480" cy="1143000"/>
          </a:xfrm>
          <a:prstGeom prst="roundRect">
            <a:avLst>
              <a:gd name="adj" fmla="val 8000"/>
            </a:avLst>
          </a:prstGeom>
          <a:solidFill>
            <a:srgbClr val="FBF8F2"/>
          </a:solidFill>
          <a:ln w="9525">
            <a:solidFill>
              <a:srgbClr val="E4EB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31520" y="5120640"/>
            <a:ext cx="164592" cy="1143000"/>
          </a:xfrm>
          <a:prstGeom prst="rect">
            <a:avLst/>
          </a:prstGeom>
          <a:solidFill>
            <a:srgbClr val="C57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97280" y="5285232"/>
            <a:ext cx="29260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 i="0">
                <a:solidFill>
                  <a:srgbClr val="264236"/>
                </a:solidFill>
                <a:latin typeface="Georgia"/>
              </a:rPr>
              <a:t>Western Europe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97280" y="5715000"/>
            <a:ext cx="29260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1">
                <a:solidFill>
                  <a:srgbClr val="9A958B"/>
                </a:solidFill>
                <a:latin typeface="Calibri"/>
              </a:rPr>
              <a:t>Year 2+: DE, NL, UK, FR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389120" y="5285232"/>
            <a:ext cx="34747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 i="0">
                <a:solidFill>
                  <a:srgbClr val="4E3C2C"/>
                </a:solidFill>
                <a:latin typeface="Georgia"/>
              </a:rPr>
              <a:t>3.5M births / year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389120" y="5760720"/>
            <a:ext cx="3474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9A958B"/>
                </a:solidFill>
                <a:latin typeface="Calibri"/>
              </a:rPr>
              <a:t>Births per year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772400" y="5285232"/>
            <a:ext cx="34747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C57B57"/>
                </a:solidFill>
                <a:latin typeface="Georgia"/>
              </a:rPr>
              <a:t>~€120–240M annual SAM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772400" y="5760720"/>
            <a:ext cx="3474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9A958B"/>
                </a:solidFill>
                <a:latin typeface="Calibri"/>
              </a:rPr>
              <a:t>Annual addressable revenue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521440" y="6537960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9A958B"/>
                </a:solidFill>
                <a:latin typeface="Calibri"/>
              </a:rPr>
              <a:t>7 / 14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1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melo-logo-bad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74320"/>
            <a:ext cx="502920" cy="5029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143000" y="292608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 i="0">
                <a:solidFill>
                  <a:srgbClr val="264236"/>
                </a:solidFill>
                <a:latin typeface="Georgia"/>
              </a:rPr>
              <a:t>Melo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" y="594360"/>
            <a:ext cx="2743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 i="0">
                <a:solidFill>
                  <a:srgbClr val="264236"/>
                </a:solidFill>
                <a:latin typeface="Calibri"/>
              </a:rPr>
              <a:t>FOR NEW PARENTS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005840"/>
            <a:ext cx="73152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000" b="1" i="0">
                <a:solidFill>
                  <a:srgbClr val="264236"/>
                </a:solidFill>
                <a:latin typeface="Georgia"/>
              </a:rPr>
              <a:t>Business model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69164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1">
                <a:solidFill>
                  <a:srgbClr val="9A958B"/>
                </a:solidFill>
                <a:latin typeface="Calibri"/>
              </a:rPr>
              <a:t>Freemium family subscription. No ads. Never sold data.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468880"/>
            <a:ext cx="2651760" cy="2743200"/>
          </a:xfrm>
          <a:prstGeom prst="roundRect">
            <a:avLst>
              <a:gd name="adj" fmla="val 8000"/>
            </a:avLst>
          </a:prstGeom>
          <a:solidFill>
            <a:srgbClr val="FBF8F2"/>
          </a:solidFill>
          <a:ln w="9525">
            <a:solidFill>
              <a:srgbClr val="E4EB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2697480"/>
            <a:ext cx="21945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264236"/>
                </a:solidFill>
                <a:latin typeface="Calibri"/>
              </a:rPr>
              <a:t>Free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3154680"/>
            <a:ext cx="21945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1" i="0">
                <a:solidFill>
                  <a:srgbClr val="264236"/>
                </a:solidFill>
                <a:latin typeface="Georgia"/>
              </a:rPr>
              <a:t>Core app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4023360"/>
            <a:ext cx="219456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264236"/>
                </a:solidFill>
                <a:latin typeface="Calibri"/>
              </a:rPr>
              <a:t>Week-by-week · Sleep tracker · Diary · Partner sync · Basic chat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520439" y="2468880"/>
            <a:ext cx="2651760" cy="2743200"/>
          </a:xfrm>
          <a:prstGeom prst="roundRect">
            <a:avLst>
              <a:gd name="adj" fmla="val 8000"/>
            </a:avLst>
          </a:prstGeom>
          <a:solidFill>
            <a:srgbClr val="E4EBE3"/>
          </a:solidFill>
          <a:ln w="9525">
            <a:solidFill>
              <a:srgbClr val="E4EB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749039" y="2697480"/>
            <a:ext cx="21945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264236"/>
                </a:solidFill>
                <a:latin typeface="Calibri"/>
              </a:rPr>
              <a:t>Monthly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49039" y="3154680"/>
            <a:ext cx="21945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1" i="0">
                <a:solidFill>
                  <a:srgbClr val="264236"/>
                </a:solidFill>
                <a:latin typeface="Georgia"/>
              </a:rPr>
              <a:t>39 DKK / mo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749039" y="4023360"/>
            <a:ext cx="219456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264236"/>
                </a:solidFill>
                <a:latin typeface="Calibri"/>
              </a:rPr>
              <a:t>Premium for both parents — flexible, cancel anytime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309359" y="2468880"/>
            <a:ext cx="2651760" cy="2743200"/>
          </a:xfrm>
          <a:prstGeom prst="roundRect">
            <a:avLst>
              <a:gd name="adj" fmla="val 8000"/>
            </a:avLst>
          </a:prstGeom>
          <a:solidFill>
            <a:srgbClr val="2642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37959" y="2697480"/>
            <a:ext cx="21945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E6DCC5"/>
                </a:solidFill>
                <a:latin typeface="Calibri"/>
              </a:rPr>
              <a:t>Annual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37959" y="3154680"/>
            <a:ext cx="21945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1" i="0">
                <a:solidFill>
                  <a:srgbClr val="E6DCC5"/>
                </a:solidFill>
                <a:latin typeface="Georgia"/>
              </a:rPr>
              <a:t>299 DKK / yr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37959" y="4023360"/>
            <a:ext cx="219456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E6DCC5"/>
                </a:solidFill>
                <a:latin typeface="Calibri"/>
              </a:rPr>
              <a:t>≈25 DKK / mo — best value, anchors the choice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098280" y="2468880"/>
            <a:ext cx="2651760" cy="2743200"/>
          </a:xfrm>
          <a:prstGeom prst="roundRect">
            <a:avLst>
              <a:gd name="adj" fmla="val 8000"/>
            </a:avLst>
          </a:prstGeom>
          <a:solidFill>
            <a:srgbClr val="F1E0D6"/>
          </a:solidFill>
          <a:ln w="9525">
            <a:solidFill>
              <a:srgbClr val="E4EB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326880" y="2697480"/>
            <a:ext cx="21945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4E3C2C"/>
                </a:solidFill>
                <a:latin typeface="Calibri"/>
              </a:rPr>
              <a:t>Bundle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326880" y="3154680"/>
            <a:ext cx="21945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1" i="0">
                <a:solidFill>
                  <a:srgbClr val="4E3C2C"/>
                </a:solidFill>
                <a:latin typeface="Georgia"/>
              </a:rPr>
              <a:t>499 DKK once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326880" y="4023360"/>
            <a:ext cx="219456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4E3C2C"/>
                </a:solidFill>
                <a:latin typeface="Calibri"/>
              </a:rPr>
              <a:t>Full pregnancy + first 24 months. Lower friction.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1520" y="548640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264236"/>
                </a:solidFill>
                <a:latin typeface="Georgia"/>
              </a:rPr>
              <a:t>Year 2+ adjacent streams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1520" y="5852160"/>
            <a:ext cx="10515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4E3C2C"/>
                </a:solidFill>
                <a:latin typeface="Calibri"/>
              </a:rPr>
              <a:t>Affiliate commerce (curated wishlist) · Premium courses (99–299 DKK) · B2B / employer benefits · Municipal pilots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521440" y="6537960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9A958B"/>
                </a:solidFill>
                <a:latin typeface="Calibri"/>
              </a:rPr>
              <a:t>8 / 14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1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melo-logo-bad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74320"/>
            <a:ext cx="502920" cy="5029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143000" y="292608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 i="0">
                <a:solidFill>
                  <a:srgbClr val="264236"/>
                </a:solidFill>
                <a:latin typeface="Georgia"/>
              </a:rPr>
              <a:t>Melo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" y="594360"/>
            <a:ext cx="2743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 i="0">
                <a:solidFill>
                  <a:srgbClr val="264236"/>
                </a:solidFill>
                <a:latin typeface="Calibri"/>
              </a:rPr>
              <a:t>FOR NEW PARENTS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005840"/>
            <a:ext cx="100584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000" b="1" i="0">
                <a:solidFill>
                  <a:srgbClr val="264236"/>
                </a:solidFill>
                <a:latin typeface="Georgia"/>
              </a:rPr>
              <a:t>Competitive landscape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69164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1">
                <a:solidFill>
                  <a:srgbClr val="9A958B"/>
                </a:solidFill>
                <a:latin typeface="Calibri"/>
              </a:rPr>
              <a:t>Big market, generic positioning. Two-parent design is our moat.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423160"/>
            <a:ext cx="2743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9A958B"/>
                </a:solidFill>
                <a:latin typeface="Calibri"/>
              </a:rPr>
              <a:t>PLAYER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0" y="2423160"/>
            <a:ext cx="20116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9A958B"/>
                </a:solidFill>
                <a:latin typeface="Calibri"/>
              </a:rPr>
              <a:t>REGION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852160" y="2423160"/>
            <a:ext cx="20116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9A958B"/>
                </a:solidFill>
                <a:latin typeface="Calibri"/>
              </a:rPr>
              <a:t>MODEL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46720" y="2423160"/>
            <a:ext cx="33832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9A958B"/>
                </a:solidFill>
                <a:latin typeface="Calibri"/>
              </a:rPr>
              <a:t>GAP WE EXPLOIT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" y="2743200"/>
            <a:ext cx="10698480" cy="13716"/>
          </a:xfrm>
          <a:prstGeom prst="rect">
            <a:avLst/>
          </a:prstGeom>
          <a:solidFill>
            <a:srgbClr val="7A9C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2880360"/>
            <a:ext cx="274320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50" b="1" i="0">
                <a:solidFill>
                  <a:srgbClr val="264236"/>
                </a:solidFill>
                <a:latin typeface="Georgia"/>
              </a:rPr>
              <a:t>Preglife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0" y="2880360"/>
            <a:ext cx="201168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0" i="0">
                <a:solidFill>
                  <a:srgbClr val="4E3C2C"/>
                </a:solidFill>
                <a:latin typeface="Calibri"/>
              </a:rPr>
              <a:t>SE/DK/NO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852160" y="2880360"/>
            <a:ext cx="201168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0" i="0">
                <a:solidFill>
                  <a:srgbClr val="4E3C2C"/>
                </a:solidFill>
                <a:latin typeface="Calibri"/>
              </a:rPr>
              <a:t>Freemium ~39 SEK/mo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46720" y="2880360"/>
            <a:ext cx="338328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0" i="0">
                <a:solidFill>
                  <a:srgbClr val="4E3C2C"/>
                </a:solidFill>
                <a:latin typeface="Calibri"/>
              </a:rPr>
              <a:t>Mom-centric. Dads ignored.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3383280"/>
            <a:ext cx="274320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50" b="1" i="0">
                <a:solidFill>
                  <a:srgbClr val="264236"/>
                </a:solidFill>
                <a:latin typeface="Georgia"/>
              </a:rPr>
              <a:t>Flo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7600" y="3383280"/>
            <a:ext cx="201168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0" i="0">
                <a:solidFill>
                  <a:srgbClr val="4E3C2C"/>
                </a:solidFill>
                <a:latin typeface="Calibri"/>
              </a:rPr>
              <a:t>Global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852160" y="3383280"/>
            <a:ext cx="201168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0" i="0">
                <a:solidFill>
                  <a:srgbClr val="4E3C2C"/>
                </a:solidFill>
                <a:latin typeface="Calibri"/>
              </a:rPr>
              <a:t>Freemium ~€7/mo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046720" y="3383280"/>
            <a:ext cx="338328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0" i="0">
                <a:solidFill>
                  <a:srgbClr val="4E3C2C"/>
                </a:solidFill>
                <a:latin typeface="Calibri"/>
              </a:rPr>
              <a:t>Cycle-tracking origin. Weak partner features.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" y="3886200"/>
            <a:ext cx="274320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50" b="1" i="0">
                <a:solidFill>
                  <a:srgbClr val="264236"/>
                </a:solidFill>
                <a:latin typeface="Georgia"/>
              </a:rPr>
              <a:t>BabyCenter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57600" y="3886200"/>
            <a:ext cx="201168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0" i="0">
                <a:solidFill>
                  <a:srgbClr val="4E3C2C"/>
                </a:solidFill>
                <a:latin typeface="Calibri"/>
              </a:rPr>
              <a:t>Global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852160" y="3886200"/>
            <a:ext cx="201168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0" i="0">
                <a:solidFill>
                  <a:srgbClr val="4E3C2C"/>
                </a:solidFill>
                <a:latin typeface="Calibri"/>
              </a:rPr>
              <a:t>Ad-supported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046720" y="3886200"/>
            <a:ext cx="338328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0" i="0">
                <a:solidFill>
                  <a:srgbClr val="4E3C2C"/>
                </a:solidFill>
                <a:latin typeface="Calibri"/>
              </a:rPr>
              <a:t>Heavy advertising. Trust issues.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1520" y="4389120"/>
            <a:ext cx="274320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50" b="1" i="0">
                <a:solidFill>
                  <a:srgbClr val="264236"/>
                </a:solidFill>
                <a:latin typeface="Georgia"/>
              </a:rPr>
              <a:t>Ovia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657600" y="4389120"/>
            <a:ext cx="201168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0" i="0">
                <a:solidFill>
                  <a:srgbClr val="4E3C2C"/>
                </a:solidFill>
                <a:latin typeface="Calibri"/>
              </a:rPr>
              <a:t>USA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852160" y="4389120"/>
            <a:ext cx="201168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0" i="0">
                <a:solidFill>
                  <a:srgbClr val="4E3C2C"/>
                </a:solidFill>
                <a:latin typeface="Calibri"/>
              </a:rPr>
              <a:t>B2B employer benefit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046720" y="4389120"/>
            <a:ext cx="338328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0" i="0">
                <a:solidFill>
                  <a:srgbClr val="4E3C2C"/>
                </a:solidFill>
                <a:latin typeface="Calibri"/>
              </a:rPr>
              <a:t>No EU consumer presence.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31520" y="4892040"/>
            <a:ext cx="274320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50" b="1" i="0">
                <a:solidFill>
                  <a:srgbClr val="264236"/>
                </a:solidFill>
                <a:latin typeface="Georgia"/>
              </a:rPr>
              <a:t>Peanut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657600" y="4892040"/>
            <a:ext cx="201168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0" i="0">
                <a:solidFill>
                  <a:srgbClr val="4E3C2C"/>
                </a:solidFill>
                <a:latin typeface="Calibri"/>
              </a:rPr>
              <a:t>Global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852160" y="4892040"/>
            <a:ext cx="201168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0" i="0">
                <a:solidFill>
                  <a:srgbClr val="4E3C2C"/>
                </a:solidFill>
                <a:latin typeface="Calibri"/>
              </a:rPr>
              <a:t>Freemium social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046720" y="4892040"/>
            <a:ext cx="338328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0" i="0">
                <a:solidFill>
                  <a:srgbClr val="4E3C2C"/>
                </a:solidFill>
                <a:latin typeface="Calibri"/>
              </a:rPr>
              <a:t>Community-driven. Not couple-focused.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31520" y="5394960"/>
            <a:ext cx="274320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50" b="1" i="0">
                <a:solidFill>
                  <a:srgbClr val="264236"/>
                </a:solidFill>
                <a:latin typeface="Georgia"/>
              </a:rPr>
              <a:t>Glow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657600" y="5394960"/>
            <a:ext cx="201168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0" i="0">
                <a:solidFill>
                  <a:srgbClr val="4E3C2C"/>
                </a:solidFill>
                <a:latin typeface="Calibri"/>
              </a:rPr>
              <a:t>Global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852160" y="5394960"/>
            <a:ext cx="201168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0" i="0">
                <a:solidFill>
                  <a:srgbClr val="4E3C2C"/>
                </a:solidFill>
                <a:latin typeface="Calibri"/>
              </a:rPr>
              <a:t>Freemium ~€7/mo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046720" y="5394960"/>
            <a:ext cx="338328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0" i="0">
                <a:solidFill>
                  <a:srgbClr val="4E3C2C"/>
                </a:solidFill>
                <a:latin typeface="Calibri"/>
              </a:rPr>
              <a:t>Cycle-first. No postpartum depth.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731520" y="6126480"/>
            <a:ext cx="10698480" cy="594360"/>
          </a:xfrm>
          <a:prstGeom prst="roundRect">
            <a:avLst>
              <a:gd name="adj" fmla="val 8000"/>
            </a:avLst>
          </a:prstGeom>
          <a:solidFill>
            <a:srgbClr val="2642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14400" y="6126480"/>
            <a:ext cx="1033272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 i="1">
                <a:solidFill>
                  <a:srgbClr val="E6DCC5"/>
                </a:solidFill>
                <a:latin typeface="Calibri"/>
              </a:rPr>
              <a:t>Melo's moat: structurally hard to copy — built around fathers from day one, with content depth competitors don't have.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521440" y="6537960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9A958B"/>
                </a:solidFill>
                <a:latin typeface="Calibri"/>
              </a:rPr>
              <a:t>9 / 14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1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melo-logo-bad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74320"/>
            <a:ext cx="502920" cy="5029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143000" y="292608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 i="0">
                <a:solidFill>
                  <a:srgbClr val="264236"/>
                </a:solidFill>
                <a:latin typeface="Georgia"/>
              </a:rPr>
              <a:t>Melo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" y="594360"/>
            <a:ext cx="2743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 i="0">
                <a:solidFill>
                  <a:srgbClr val="264236"/>
                </a:solidFill>
                <a:latin typeface="Calibri"/>
              </a:rPr>
              <a:t>FOR NEW PARENTS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005840"/>
            <a:ext cx="73152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000" b="1" i="0">
                <a:solidFill>
                  <a:srgbClr val="264236"/>
                </a:solidFill>
                <a:latin typeface="Georgia"/>
              </a:rPr>
              <a:t>Traction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69164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1">
                <a:solidFill>
                  <a:srgbClr val="9A958B"/>
                </a:solidFill>
                <a:latin typeface="Calibri"/>
              </a:rPr>
              <a:t>Built. Ready. Launch-blockers being closed this quarter.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468880"/>
            <a:ext cx="2651760" cy="2011680"/>
          </a:xfrm>
          <a:prstGeom prst="roundRect">
            <a:avLst>
              <a:gd name="adj" fmla="val 8000"/>
            </a:avLst>
          </a:prstGeom>
          <a:solidFill>
            <a:srgbClr val="FBF8F2"/>
          </a:solidFill>
          <a:ln w="9525">
            <a:solidFill>
              <a:srgbClr val="E4EB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2606040"/>
            <a:ext cx="2651760" cy="914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4800" b="1" i="0">
                <a:solidFill>
                  <a:srgbClr val="264236"/>
                </a:solidFill>
                <a:latin typeface="Georgia"/>
              </a:rPr>
              <a:t>35+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3657600"/>
            <a:ext cx="26517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 i="0">
                <a:solidFill>
                  <a:srgbClr val="4E3C2C"/>
                </a:solidFill>
                <a:latin typeface="Calibri"/>
              </a:rPr>
              <a:t>pages / screens built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520439" y="2468880"/>
            <a:ext cx="2651760" cy="2011680"/>
          </a:xfrm>
          <a:prstGeom prst="roundRect">
            <a:avLst>
              <a:gd name="adj" fmla="val 8000"/>
            </a:avLst>
          </a:prstGeom>
          <a:solidFill>
            <a:srgbClr val="FBF8F2"/>
          </a:solidFill>
          <a:ln w="9525">
            <a:solidFill>
              <a:srgbClr val="E4EB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520439" y="2606040"/>
            <a:ext cx="2651760" cy="914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4800" b="1" i="0">
                <a:solidFill>
                  <a:srgbClr val="7A9C82"/>
                </a:solidFill>
                <a:latin typeface="Georgia"/>
              </a:rPr>
              <a:t>36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20439" y="3657600"/>
            <a:ext cx="26517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 i="0">
                <a:solidFill>
                  <a:srgbClr val="4E3C2C"/>
                </a:solidFill>
                <a:latin typeface="Calibri"/>
              </a:rPr>
              <a:t>weeks of pregnancy content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309359" y="2468880"/>
            <a:ext cx="2651760" cy="2011680"/>
          </a:xfrm>
          <a:prstGeom prst="roundRect">
            <a:avLst>
              <a:gd name="adj" fmla="val 8000"/>
            </a:avLst>
          </a:prstGeom>
          <a:solidFill>
            <a:srgbClr val="FBF8F2"/>
          </a:solidFill>
          <a:ln w="9525">
            <a:solidFill>
              <a:srgbClr val="E4EB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09359" y="2606040"/>
            <a:ext cx="2651760" cy="914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4800" b="1" i="0">
                <a:solidFill>
                  <a:srgbClr val="C57B57"/>
                </a:solidFill>
                <a:latin typeface="Georgia"/>
              </a:rPr>
              <a:t>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09359" y="3657600"/>
            <a:ext cx="26517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 i="0">
                <a:solidFill>
                  <a:srgbClr val="4E3C2C"/>
                </a:solidFill>
                <a:latin typeface="Calibri"/>
              </a:rPr>
              <a:t>age-stages of dad content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098280" y="2468880"/>
            <a:ext cx="2651760" cy="2011680"/>
          </a:xfrm>
          <a:prstGeom prst="roundRect">
            <a:avLst>
              <a:gd name="adj" fmla="val 8000"/>
            </a:avLst>
          </a:prstGeom>
          <a:solidFill>
            <a:srgbClr val="FBF8F2"/>
          </a:solidFill>
          <a:ln w="9525">
            <a:solidFill>
              <a:srgbClr val="E4EB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098280" y="2606040"/>
            <a:ext cx="2651760" cy="914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4800" b="1" i="0">
                <a:solidFill>
                  <a:srgbClr val="264236"/>
                </a:solidFill>
                <a:latin typeface="Georgia"/>
              </a:rPr>
              <a:t>GDPR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098280" y="3657600"/>
            <a:ext cx="26517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 i="0">
                <a:solidFill>
                  <a:srgbClr val="4E3C2C"/>
                </a:solidFill>
                <a:latin typeface="Calibri"/>
              </a:rPr>
              <a:t>data architecture verified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4754880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264236"/>
                </a:solidFill>
                <a:latin typeface="Georgia"/>
              </a:rPr>
              <a:t>What's done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" y="5166360"/>
            <a:ext cx="5212080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200">
                <a:solidFill>
                  <a:srgbClr val="4E3C2C"/>
                </a:solidFill>
                <a:latin typeface="Calibri"/>
              </a:rPr>
              <a:t>• Feature-complete v1 build</a:t>
            </a:r>
          </a:p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200">
                <a:solidFill>
                  <a:srgbClr val="4E3C2C"/>
                </a:solidFill>
                <a:latin typeface="Calibri"/>
              </a:rPr>
              <a:t>• Postpartum dad experience (industry-first depth)</a:t>
            </a:r>
          </a:p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200">
                <a:solidFill>
                  <a:srgbClr val="4E3C2C"/>
                </a:solidFill>
                <a:latin typeface="Calibri"/>
              </a:rPr>
              <a:t>• Privacy policy + GDPR-compliant Row Level Security</a:t>
            </a:r>
          </a:p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200">
                <a:solidFill>
                  <a:srgbClr val="4E3C2C"/>
                </a:solidFill>
                <a:latin typeface="Calibri"/>
              </a:rPr>
              <a:t>• Brand, design system, app icon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0" y="4754880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C57B57"/>
                </a:solidFill>
                <a:latin typeface="Georgia"/>
              </a:rPr>
              <a:t>In motion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0" y="5166360"/>
            <a:ext cx="5029200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200">
                <a:solidFill>
                  <a:srgbClr val="4E3C2C"/>
                </a:solidFill>
                <a:latin typeface="Calibri"/>
              </a:rPr>
              <a:t>• Clinical sign-off (Danish midwife) — in review</a:t>
            </a:r>
          </a:p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200">
                <a:solidFill>
                  <a:srgbClr val="4E3C2C"/>
                </a:solidFill>
                <a:latin typeface="Calibri"/>
              </a:rPr>
              <a:t>• App Store submission — pending sign-off</a:t>
            </a:r>
          </a:p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200">
                <a:solidFill>
                  <a:srgbClr val="4E3C2C"/>
                </a:solidFill>
                <a:latin typeface="Calibri"/>
              </a:rPr>
              <a:t>• Launch partner conversations (Mødrehjælpen)</a:t>
            </a:r>
          </a:p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200">
                <a:solidFill>
                  <a:srgbClr val="4E3C2C"/>
                </a:solidFill>
                <a:latin typeface="Calibri"/>
              </a:rPr>
              <a:t>• Internal TestFlight with first cohort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521440" y="6537960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9A958B"/>
                </a:solidFill>
                <a:latin typeface="Calibri"/>
              </a:rPr>
              <a:t>10 / 14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1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melo-logo-bad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74320"/>
            <a:ext cx="502920" cy="5029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143000" y="292608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 i="0">
                <a:solidFill>
                  <a:srgbClr val="264236"/>
                </a:solidFill>
                <a:latin typeface="Georgia"/>
              </a:rPr>
              <a:t>Melo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" y="594360"/>
            <a:ext cx="2743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 i="0">
                <a:solidFill>
                  <a:srgbClr val="264236"/>
                </a:solidFill>
                <a:latin typeface="Calibri"/>
              </a:rPr>
              <a:t>FOR NEW PARENTS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005840"/>
            <a:ext cx="73152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000" b="1" i="0">
                <a:solidFill>
                  <a:srgbClr val="264236"/>
                </a:solidFill>
                <a:latin typeface="Georgia"/>
              </a:rPr>
              <a:t>Roadmap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69164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1">
                <a:solidFill>
                  <a:srgbClr val="9A958B"/>
                </a:solidFill>
                <a:latin typeface="Calibri"/>
              </a:rPr>
              <a:t>Twelve months from launch to Nordic scale.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468880"/>
            <a:ext cx="2651760" cy="731520"/>
          </a:xfrm>
          <a:prstGeom prst="roundRect">
            <a:avLst>
              <a:gd name="adj" fmla="val 8000"/>
            </a:avLst>
          </a:prstGeom>
          <a:solidFill>
            <a:srgbClr val="2642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2468880"/>
            <a:ext cx="26517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E6DCC5"/>
                </a:solidFill>
                <a:latin typeface="Calibri"/>
              </a:rPr>
              <a:t>Q3 2026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788920"/>
            <a:ext cx="26517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 i="0">
                <a:solidFill>
                  <a:srgbClr val="E6DCC5"/>
                </a:solidFill>
                <a:latin typeface="Georgia"/>
              </a:rPr>
              <a:t>Launch DK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3246120"/>
            <a:ext cx="2651760" cy="2743200"/>
          </a:xfrm>
          <a:prstGeom prst="roundRect">
            <a:avLst>
              <a:gd name="adj" fmla="val 8000"/>
            </a:avLst>
          </a:prstGeom>
          <a:solidFill>
            <a:srgbClr val="FBF8F2"/>
          </a:solidFill>
          <a:ln w="9525">
            <a:solidFill>
              <a:srgbClr val="E4EB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0120" y="3383280"/>
            <a:ext cx="2423160" cy="2468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  <a:spcAft>
                <a:spcPts val="300"/>
              </a:spcAft>
            </a:pPr>
            <a:r>
              <a:rPr sz="1150">
                <a:solidFill>
                  <a:srgbClr val="4E3C2C"/>
                </a:solidFill>
                <a:latin typeface="Calibri"/>
              </a:rPr>
              <a:t>• Soft launch, free tier</a:t>
            </a:r>
          </a:p>
          <a:p>
            <a:pPr algn="l">
              <a:lnSpc>
                <a:spcPct val="140000"/>
              </a:lnSpc>
              <a:spcAft>
                <a:spcPts val="300"/>
              </a:spcAft>
            </a:pPr>
            <a:r>
              <a:rPr sz="1150">
                <a:solidFill>
                  <a:srgbClr val="4E3C2C"/>
                </a:solidFill>
                <a:latin typeface="Calibri"/>
              </a:rPr>
              <a:t>• Clinical endorsement live</a:t>
            </a:r>
          </a:p>
          <a:p>
            <a:pPr algn="l">
              <a:lnSpc>
                <a:spcPct val="140000"/>
              </a:lnSpc>
              <a:spcAft>
                <a:spcPts val="300"/>
              </a:spcAft>
            </a:pPr>
            <a:r>
              <a:rPr sz="1150">
                <a:solidFill>
                  <a:srgbClr val="4E3C2C"/>
                </a:solidFill>
                <a:latin typeface="Calibri"/>
              </a:rPr>
              <a:t>• Target 5K installs</a:t>
            </a:r>
          </a:p>
          <a:p>
            <a:pPr algn="l">
              <a:lnSpc>
                <a:spcPct val="140000"/>
              </a:lnSpc>
              <a:spcAft>
                <a:spcPts val="300"/>
              </a:spcAft>
            </a:pPr>
            <a:r>
              <a:rPr sz="1150">
                <a:solidFill>
                  <a:srgbClr val="4E3C2C"/>
                </a:solidFill>
                <a:latin typeface="Calibri"/>
              </a:rPr>
              <a:t>• 1.5K WAU end of Q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520439" y="2468880"/>
            <a:ext cx="2651760" cy="731520"/>
          </a:xfrm>
          <a:prstGeom prst="roundRect">
            <a:avLst>
              <a:gd name="adj" fmla="val 8000"/>
            </a:avLst>
          </a:prstGeom>
          <a:solidFill>
            <a:srgbClr val="2642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520439" y="2468880"/>
            <a:ext cx="26517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E6DCC5"/>
                </a:solidFill>
                <a:latin typeface="Calibri"/>
              </a:rPr>
              <a:t>Q4 2026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20439" y="2788920"/>
            <a:ext cx="26517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 i="0">
                <a:solidFill>
                  <a:srgbClr val="E6DCC5"/>
                </a:solidFill>
                <a:latin typeface="Georgia"/>
              </a:rPr>
              <a:t>Monetize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520439" y="3246120"/>
            <a:ext cx="2651760" cy="2743200"/>
          </a:xfrm>
          <a:prstGeom prst="roundRect">
            <a:avLst>
              <a:gd name="adj" fmla="val 8000"/>
            </a:avLst>
          </a:prstGeom>
          <a:solidFill>
            <a:srgbClr val="FBF8F2"/>
          </a:solidFill>
          <a:ln w="9525">
            <a:solidFill>
              <a:srgbClr val="E4EB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749039" y="3383280"/>
            <a:ext cx="2423160" cy="2468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  <a:spcAft>
                <a:spcPts val="300"/>
              </a:spcAft>
            </a:pPr>
            <a:r>
              <a:rPr sz="1150">
                <a:solidFill>
                  <a:srgbClr val="4E3C2C"/>
                </a:solidFill>
                <a:latin typeface="Calibri"/>
              </a:rPr>
              <a:t>• Premium subscription live</a:t>
            </a:r>
          </a:p>
          <a:p>
            <a:pPr algn="l">
              <a:lnSpc>
                <a:spcPct val="140000"/>
              </a:lnSpc>
              <a:spcAft>
                <a:spcPts val="300"/>
              </a:spcAft>
            </a:pPr>
            <a:r>
              <a:rPr sz="1150">
                <a:solidFill>
                  <a:srgbClr val="4E3C2C"/>
                </a:solidFill>
                <a:latin typeface="Calibri"/>
              </a:rPr>
              <a:t>• Target 3% conversion</a:t>
            </a:r>
          </a:p>
          <a:p>
            <a:pPr algn="l">
              <a:lnSpc>
                <a:spcPct val="140000"/>
              </a:lnSpc>
              <a:spcAft>
                <a:spcPts val="300"/>
              </a:spcAft>
            </a:pPr>
            <a:r>
              <a:rPr sz="1150">
                <a:solidFill>
                  <a:srgbClr val="4E3C2C"/>
                </a:solidFill>
                <a:latin typeface="Calibri"/>
              </a:rPr>
              <a:t>• First media coverage</a:t>
            </a:r>
          </a:p>
          <a:p>
            <a:pPr algn="l">
              <a:lnSpc>
                <a:spcPct val="140000"/>
              </a:lnSpc>
              <a:spcAft>
                <a:spcPts val="300"/>
              </a:spcAft>
            </a:pPr>
            <a:r>
              <a:rPr sz="1150">
                <a:solidFill>
                  <a:srgbClr val="4E3C2C"/>
                </a:solidFill>
                <a:latin typeface="Calibri"/>
              </a:rPr>
              <a:t>• 250 paying families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309359" y="2468880"/>
            <a:ext cx="2651760" cy="731520"/>
          </a:xfrm>
          <a:prstGeom prst="roundRect">
            <a:avLst>
              <a:gd name="adj" fmla="val 8000"/>
            </a:avLst>
          </a:prstGeom>
          <a:solidFill>
            <a:srgbClr val="2642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09359" y="2468880"/>
            <a:ext cx="26517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E6DCC5"/>
                </a:solidFill>
                <a:latin typeface="Calibri"/>
              </a:rPr>
              <a:t>Q1 2027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09359" y="2788920"/>
            <a:ext cx="26517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 i="0">
                <a:solidFill>
                  <a:srgbClr val="E6DCC5"/>
                </a:solidFill>
                <a:latin typeface="Georgia"/>
              </a:rPr>
              <a:t>Nordic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309359" y="3246120"/>
            <a:ext cx="2651760" cy="2743200"/>
          </a:xfrm>
          <a:prstGeom prst="roundRect">
            <a:avLst>
              <a:gd name="adj" fmla="val 8000"/>
            </a:avLst>
          </a:prstGeom>
          <a:solidFill>
            <a:srgbClr val="FBF8F2"/>
          </a:solidFill>
          <a:ln w="9525">
            <a:solidFill>
              <a:srgbClr val="E4EB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537959" y="3383280"/>
            <a:ext cx="2423160" cy="2468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  <a:spcAft>
                <a:spcPts val="300"/>
              </a:spcAft>
            </a:pPr>
            <a:r>
              <a:rPr sz="1150">
                <a:solidFill>
                  <a:srgbClr val="4E3C2C"/>
                </a:solidFill>
                <a:latin typeface="Calibri"/>
              </a:rPr>
              <a:t>• Swedish localization</a:t>
            </a:r>
          </a:p>
          <a:p>
            <a:pPr algn="l">
              <a:lnSpc>
                <a:spcPct val="140000"/>
              </a:lnSpc>
              <a:spcAft>
                <a:spcPts val="300"/>
              </a:spcAft>
            </a:pPr>
            <a:r>
              <a:rPr sz="1150">
                <a:solidFill>
                  <a:srgbClr val="4E3C2C"/>
                </a:solidFill>
                <a:latin typeface="Calibri"/>
              </a:rPr>
              <a:t>• Soft launch SE</a:t>
            </a:r>
          </a:p>
          <a:p>
            <a:pPr algn="l">
              <a:lnSpc>
                <a:spcPct val="140000"/>
              </a:lnSpc>
              <a:spcAft>
                <a:spcPts val="300"/>
              </a:spcAft>
            </a:pPr>
            <a:r>
              <a:rPr sz="1150">
                <a:solidFill>
                  <a:srgbClr val="4E3C2C"/>
                </a:solidFill>
                <a:latin typeface="Calibri"/>
              </a:rPr>
              <a:t>• First B2B pilot</a:t>
            </a:r>
          </a:p>
          <a:p>
            <a:pPr algn="l">
              <a:lnSpc>
                <a:spcPct val="140000"/>
              </a:lnSpc>
              <a:spcAft>
                <a:spcPts val="300"/>
              </a:spcAft>
            </a:pPr>
            <a:r>
              <a:rPr sz="1150">
                <a:solidFill>
                  <a:srgbClr val="4E3C2C"/>
                </a:solidFill>
                <a:latin typeface="Calibri"/>
              </a:rPr>
              <a:t>• Series A prep begins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098280" y="2468880"/>
            <a:ext cx="2651760" cy="731520"/>
          </a:xfrm>
          <a:prstGeom prst="roundRect">
            <a:avLst>
              <a:gd name="adj" fmla="val 8000"/>
            </a:avLst>
          </a:prstGeom>
          <a:solidFill>
            <a:srgbClr val="2642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098280" y="2468880"/>
            <a:ext cx="26517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E6DCC5"/>
                </a:solidFill>
                <a:latin typeface="Calibri"/>
              </a:rPr>
              <a:t>Q2 2027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098280" y="2788920"/>
            <a:ext cx="26517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 i="0">
                <a:solidFill>
                  <a:srgbClr val="E6DCC5"/>
                </a:solidFill>
                <a:latin typeface="Georgia"/>
              </a:rPr>
              <a:t>Scale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098280" y="3246120"/>
            <a:ext cx="2651760" cy="2743200"/>
          </a:xfrm>
          <a:prstGeom prst="roundRect">
            <a:avLst>
              <a:gd name="adj" fmla="val 8000"/>
            </a:avLst>
          </a:prstGeom>
          <a:solidFill>
            <a:srgbClr val="FBF8F2"/>
          </a:solidFill>
          <a:ln w="9525">
            <a:solidFill>
              <a:srgbClr val="E4EB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326880" y="3383280"/>
            <a:ext cx="2423160" cy="2468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  <a:spcAft>
                <a:spcPts val="300"/>
              </a:spcAft>
            </a:pPr>
            <a:r>
              <a:rPr sz="1150">
                <a:solidFill>
                  <a:srgbClr val="4E3C2C"/>
                </a:solidFill>
                <a:latin typeface="Calibri"/>
              </a:rPr>
              <a:t>• Norwegian launch</a:t>
            </a:r>
          </a:p>
          <a:p>
            <a:pPr algn="l">
              <a:lnSpc>
                <a:spcPct val="140000"/>
              </a:lnSpc>
              <a:spcAft>
                <a:spcPts val="300"/>
              </a:spcAft>
            </a:pPr>
            <a:r>
              <a:rPr sz="1150">
                <a:solidFill>
                  <a:srgbClr val="4E3C2C"/>
                </a:solidFill>
                <a:latin typeface="Calibri"/>
              </a:rPr>
              <a:t>• 25K installs across Nordic</a:t>
            </a:r>
          </a:p>
          <a:p>
            <a:pPr algn="l">
              <a:lnSpc>
                <a:spcPct val="140000"/>
              </a:lnSpc>
              <a:spcAft>
                <a:spcPts val="300"/>
              </a:spcAft>
            </a:pPr>
            <a:r>
              <a:rPr sz="1150">
                <a:solidFill>
                  <a:srgbClr val="4E3C2C"/>
                </a:solidFill>
                <a:latin typeface="Calibri"/>
              </a:rPr>
              <a:t>• Series A close target</a:t>
            </a:r>
          </a:p>
          <a:p>
            <a:pPr algn="l">
              <a:lnSpc>
                <a:spcPct val="140000"/>
              </a:lnSpc>
              <a:spcAft>
                <a:spcPts val="300"/>
              </a:spcAft>
            </a:pPr>
            <a:r>
              <a:rPr sz="1150">
                <a:solidFill>
                  <a:srgbClr val="4E3C2C"/>
                </a:solidFill>
                <a:latin typeface="Calibri"/>
              </a:rPr>
              <a:t>• Hiring: content + iOS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521440" y="6537960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9A958B"/>
                </a:solidFill>
                <a:latin typeface="Calibri"/>
              </a:rPr>
              <a:t>11 / 14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1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melo-logo-bad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74320"/>
            <a:ext cx="502920" cy="5029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143000" y="292608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 i="0">
                <a:solidFill>
                  <a:srgbClr val="264236"/>
                </a:solidFill>
                <a:latin typeface="Georgia"/>
              </a:rPr>
              <a:t>Melo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" y="594360"/>
            <a:ext cx="2743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 i="0">
                <a:solidFill>
                  <a:srgbClr val="264236"/>
                </a:solidFill>
                <a:latin typeface="Calibri"/>
              </a:rPr>
              <a:t>FOR NEW PARENTS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005840"/>
            <a:ext cx="73152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000" b="1" i="0">
                <a:solidFill>
                  <a:srgbClr val="264236"/>
                </a:solidFill>
                <a:latin typeface="Georgia"/>
              </a:rPr>
              <a:t>Team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69164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1">
                <a:solidFill>
                  <a:srgbClr val="9A958B"/>
                </a:solidFill>
                <a:latin typeface="Calibri"/>
              </a:rPr>
              <a:t>Lean by design. Next hires unlocked by this round.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468880"/>
            <a:ext cx="5303520" cy="3840480"/>
          </a:xfrm>
          <a:prstGeom prst="roundRect">
            <a:avLst>
              <a:gd name="adj" fmla="val 8000"/>
            </a:avLst>
          </a:prstGeom>
          <a:solidFill>
            <a:srgbClr val="FBF8F2"/>
          </a:solidFill>
          <a:ln w="9525">
            <a:solidFill>
              <a:srgbClr val="E4EB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05840" y="2743200"/>
            <a:ext cx="822960" cy="822960"/>
          </a:xfrm>
          <a:prstGeom prst="ellipse">
            <a:avLst/>
          </a:prstGeom>
          <a:solidFill>
            <a:srgbClr val="F1E0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2743200"/>
            <a:ext cx="82296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800" b="1" i="0">
                <a:solidFill>
                  <a:srgbClr val="C57B57"/>
                </a:solidFill>
                <a:latin typeface="Georgia"/>
              </a:rPr>
              <a:t>LB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057400" y="2743200"/>
            <a:ext cx="3657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 i="0">
                <a:solidFill>
                  <a:srgbClr val="264236"/>
                </a:solidFill>
                <a:latin typeface="Georgia"/>
              </a:rPr>
              <a:t>Louise Bencard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57400" y="3200400"/>
            <a:ext cx="3657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1">
                <a:solidFill>
                  <a:srgbClr val="9A958B"/>
                </a:solidFill>
                <a:latin typeface="Calibri"/>
              </a:rPr>
              <a:t>Founder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3840480"/>
            <a:ext cx="4937760" cy="228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 i="1">
                <a:solidFill>
                  <a:srgbClr val="4E3C2C"/>
                </a:solidFill>
                <a:latin typeface="Calibri"/>
              </a:rPr>
              <a:t>[Background — to fill in: design / product / clinical / parental story]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309360" y="2468880"/>
            <a:ext cx="5120640" cy="3840480"/>
          </a:xfrm>
          <a:prstGeom prst="roundRect">
            <a:avLst>
              <a:gd name="adj" fmla="val 8000"/>
            </a:avLst>
          </a:prstGeom>
          <a:solidFill>
            <a:srgbClr val="E4EB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92240" y="2697480"/>
            <a:ext cx="48463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264236"/>
                </a:solidFill>
                <a:latin typeface="Georgia"/>
              </a:rPr>
              <a:t>Next hires (this round)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92240" y="3246120"/>
            <a:ext cx="4846320" cy="228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600"/>
              </a:spcAft>
            </a:pPr>
            <a:r>
              <a:rPr sz="1300">
                <a:solidFill>
                  <a:srgbClr val="4E3C2C"/>
                </a:solidFill>
                <a:latin typeface="Calibri"/>
              </a:rPr>
              <a:t>• Senior content lead — clinical / editorial</a:t>
            </a:r>
          </a:p>
          <a:p>
            <a:pPr algn="l">
              <a:lnSpc>
                <a:spcPct val="150000"/>
              </a:lnSpc>
              <a:spcAft>
                <a:spcPts val="600"/>
              </a:spcAft>
            </a:pPr>
            <a:r>
              <a:rPr sz="1300">
                <a:solidFill>
                  <a:srgbClr val="4E3C2C"/>
                </a:solidFill>
                <a:latin typeface="Calibri"/>
              </a:rPr>
              <a:t>• iOS engineer, full-time</a:t>
            </a:r>
          </a:p>
          <a:p>
            <a:pPr algn="l">
              <a:lnSpc>
                <a:spcPct val="150000"/>
              </a:lnSpc>
              <a:spcAft>
                <a:spcPts val="600"/>
              </a:spcAft>
            </a:pPr>
            <a:r>
              <a:rPr sz="1300">
                <a:solidFill>
                  <a:srgbClr val="4E3C2C"/>
                </a:solidFill>
                <a:latin typeface="Calibri"/>
              </a:rPr>
              <a:t>• Part-time designer</a:t>
            </a:r>
          </a:p>
          <a:p>
            <a:pPr algn="l">
              <a:lnSpc>
                <a:spcPct val="150000"/>
              </a:lnSpc>
              <a:spcAft>
                <a:spcPts val="600"/>
              </a:spcAft>
            </a:pPr>
            <a:r>
              <a:rPr sz="1300">
                <a:solidFill>
                  <a:srgbClr val="4E3C2C"/>
                </a:solidFill>
                <a:latin typeface="Calibri"/>
              </a:rPr>
              <a:t>• Customer support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92240" y="5760720"/>
            <a:ext cx="4846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1">
                <a:solidFill>
                  <a:srgbClr val="C57B57"/>
                </a:solidFill>
                <a:latin typeface="Calibri"/>
              </a:rPr>
              <a:t>Plus a clinical advisor signing all content.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521440" y="6537960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9A958B"/>
                </a:solidFill>
                <a:latin typeface="Calibri"/>
              </a:rPr>
              <a:t>12 / 14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642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424160" y="822960"/>
            <a:ext cx="109728" cy="109728"/>
          </a:xfrm>
          <a:prstGeom prst="ellipse">
            <a:avLst/>
          </a:prstGeom>
          <a:solidFill>
            <a:srgbClr val="C57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972800" y="1188720"/>
            <a:ext cx="109728" cy="109728"/>
          </a:xfrm>
          <a:prstGeom prst="ellipse">
            <a:avLst/>
          </a:prstGeom>
          <a:solidFill>
            <a:srgbClr val="C57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1521440" y="914400"/>
            <a:ext cx="109728" cy="109728"/>
          </a:xfrm>
          <a:prstGeom prst="ellipse">
            <a:avLst/>
          </a:prstGeom>
          <a:solidFill>
            <a:srgbClr val="C57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melo-logo-bad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74320"/>
            <a:ext cx="502920" cy="50292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143000" y="292608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 i="0">
                <a:solidFill>
                  <a:srgbClr val="E6DCC5"/>
                </a:solidFill>
                <a:latin typeface="Georgia"/>
              </a:rPr>
              <a:t>Melo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594360"/>
            <a:ext cx="2743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 i="0">
                <a:solidFill>
                  <a:srgbClr val="E6DCC5"/>
                </a:solidFill>
                <a:latin typeface="Calibri"/>
              </a:rPr>
              <a:t>FOR NEW PARENTS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1371600"/>
            <a:ext cx="73152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000" b="1" i="0">
                <a:solidFill>
                  <a:srgbClr val="E6DCC5"/>
                </a:solidFill>
                <a:latin typeface="Georgia"/>
              </a:rPr>
              <a:t>The ask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05740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1">
                <a:solidFill>
                  <a:srgbClr val="E6DCC5"/>
                </a:solidFill>
                <a:latin typeface="Calibri"/>
              </a:rPr>
              <a:t>Twelve months runway to validated launch and Nordic scale.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2834640"/>
            <a:ext cx="10515600" cy="1463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800" b="1" i="0">
                <a:solidFill>
                  <a:srgbClr val="E6DCC5"/>
                </a:solidFill>
                <a:latin typeface="Georgia"/>
              </a:rPr>
              <a:t>€ [AMOUNT]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4572000"/>
            <a:ext cx="2651760" cy="1783080"/>
          </a:xfrm>
          <a:prstGeom prst="roundRect">
            <a:avLst>
              <a:gd name="adj" fmla="val 8000"/>
            </a:avLst>
          </a:prstGeom>
          <a:solidFill>
            <a:srgbClr val="3F6B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4754880"/>
            <a:ext cx="21945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1" i="0">
                <a:solidFill>
                  <a:srgbClr val="E6DCC5"/>
                </a:solidFill>
                <a:latin typeface="Georgia"/>
              </a:rPr>
              <a:t>60%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0120" y="5257800"/>
            <a:ext cx="21945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E6DCC5"/>
                </a:solidFill>
                <a:latin typeface="Georgia"/>
              </a:rPr>
              <a:t>Team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" y="5623560"/>
            <a:ext cx="22860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E6DCC5"/>
                </a:solidFill>
                <a:latin typeface="Calibri"/>
              </a:rPr>
              <a:t>Content lead, iOS engineer, designer, support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520439" y="4572000"/>
            <a:ext cx="2651760" cy="1783080"/>
          </a:xfrm>
          <a:prstGeom prst="roundRect">
            <a:avLst>
              <a:gd name="adj" fmla="val 8000"/>
            </a:avLst>
          </a:prstGeom>
          <a:solidFill>
            <a:srgbClr val="3F6B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749039" y="4754880"/>
            <a:ext cx="21945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1" i="0">
                <a:solidFill>
                  <a:srgbClr val="E6DCC5"/>
                </a:solidFill>
                <a:latin typeface="Georgia"/>
              </a:rPr>
              <a:t>15%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749039" y="5257800"/>
            <a:ext cx="21945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E6DCC5"/>
                </a:solidFill>
                <a:latin typeface="Georgia"/>
              </a:rPr>
              <a:t>Content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749039" y="5623560"/>
            <a:ext cx="22860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E6DCC5"/>
                </a:solidFill>
                <a:latin typeface="Calibri"/>
              </a:rPr>
              <a:t>Clinical sign-off, professional video/illustration assets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309359" y="4572000"/>
            <a:ext cx="2651760" cy="1783080"/>
          </a:xfrm>
          <a:prstGeom prst="roundRect">
            <a:avLst>
              <a:gd name="adj" fmla="val 8000"/>
            </a:avLst>
          </a:prstGeom>
          <a:solidFill>
            <a:srgbClr val="3F6B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37959" y="4754880"/>
            <a:ext cx="21945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1" i="0">
                <a:solidFill>
                  <a:srgbClr val="E6DCC5"/>
                </a:solidFill>
                <a:latin typeface="Georgia"/>
              </a:rPr>
              <a:t>15%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37959" y="5257800"/>
            <a:ext cx="21945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E6DCC5"/>
                </a:solidFill>
                <a:latin typeface="Georgia"/>
              </a:rPr>
              <a:t>Marketing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37959" y="5623560"/>
            <a:ext cx="22860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E6DCC5"/>
                </a:solidFill>
                <a:latin typeface="Calibri"/>
              </a:rPr>
              <a:t>Paid pilot, PR, clinical endorsement campaign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098280" y="4572000"/>
            <a:ext cx="2651760" cy="1783080"/>
          </a:xfrm>
          <a:prstGeom prst="roundRect">
            <a:avLst>
              <a:gd name="adj" fmla="val 8000"/>
            </a:avLst>
          </a:prstGeom>
          <a:solidFill>
            <a:srgbClr val="3F6B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326880" y="4754880"/>
            <a:ext cx="21945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1" i="0">
                <a:solidFill>
                  <a:srgbClr val="E6DCC5"/>
                </a:solidFill>
                <a:latin typeface="Georgia"/>
              </a:rPr>
              <a:t>10%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326880" y="5257800"/>
            <a:ext cx="21945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E6DCC5"/>
                </a:solidFill>
                <a:latin typeface="Georgia"/>
              </a:rPr>
              <a:t>Operations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326880" y="5623560"/>
            <a:ext cx="22860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E6DCC5"/>
                </a:solidFill>
                <a:latin typeface="Calibri"/>
              </a:rPr>
              <a:t>Legal (GDPR, App Store), accounting, working capital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31520" y="6492240"/>
            <a:ext cx="10515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1">
                <a:solidFill>
                  <a:srgbClr val="E6DCC5"/>
                </a:solidFill>
                <a:latin typeface="Calibri"/>
              </a:rPr>
              <a:t>Looking for patient capital with consumer-health or family-tech experience.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521440" y="6537960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9A958B"/>
                </a:solidFill>
                <a:latin typeface="Calibri"/>
              </a:rPr>
              <a:t>13 / 14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642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607040" y="5852160"/>
            <a:ext cx="109728" cy="109728"/>
          </a:xfrm>
          <a:prstGeom prst="ellipse">
            <a:avLst/>
          </a:prstGeom>
          <a:solidFill>
            <a:srgbClr val="C57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1155680" y="6126480"/>
            <a:ext cx="109728" cy="109728"/>
          </a:xfrm>
          <a:prstGeom prst="ellipse">
            <a:avLst/>
          </a:prstGeom>
          <a:solidFill>
            <a:srgbClr val="C57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melo-logo-her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731520"/>
            <a:ext cx="1645920" cy="16459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31520" y="2926080"/>
            <a:ext cx="1051560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0" b="1" i="0">
                <a:solidFill>
                  <a:srgbClr val="E6DCC5"/>
                </a:solidFill>
                <a:latin typeface="Georgia"/>
              </a:rPr>
              <a:t>Thank you.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4297680"/>
            <a:ext cx="105156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0" i="1">
                <a:solidFill>
                  <a:srgbClr val="E6DCC5"/>
                </a:solidFill>
                <a:latin typeface="Georgia"/>
              </a:rPr>
              <a:t>Let's build the calm hand that walks alongside every new family.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548640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E6DCC5"/>
                </a:solidFill>
                <a:latin typeface="Calibri"/>
              </a:rPr>
              <a:t>Louise Bencard   ·   Founder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594360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1">
                <a:solidFill>
                  <a:srgbClr val="E6DCC5"/>
                </a:solidFill>
                <a:latin typeface="Calibri"/>
              </a:rPr>
              <a:t>hej@meloparents.com   ·   meloparents.com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Melo — Investor Pitch</dc:title>
  <dc:subject/>
  <dc:creator>Melo Parents ApS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